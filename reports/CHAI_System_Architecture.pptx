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1"/>
  </p:normalViewPr>
  <p:slideViewPr>
    <p:cSldViewPr snapToGrid="0" snapToObjects="1">
      <p:cViewPr>
        <p:scale>
          <a:sx n="125" d="100"/>
          <a:sy n="125" d="100"/>
        </p:scale>
        <p:origin x="144" y="-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11384280" cy="420624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l"/>
            <a:r>
              <a:rPr sz="2400" b="1">
                <a:solidFill>
                  <a:srgbClr val="183B56"/>
                </a:solidFill>
                <a:latin typeface="Aptos"/>
              </a:rPr>
              <a:t>CHAI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566928"/>
            <a:ext cx="11247120" cy="246888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l"/>
            <a:r>
              <a:rPr sz="1050" b="0">
                <a:solidFill>
                  <a:srgbClr val="5D6D7E"/>
                </a:solidFill>
                <a:latin typeface="Aptos"/>
              </a:rPr>
              <a:t>Constraint-guided offline synthesis and energy-aware runtime dispatch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32688"/>
            <a:ext cx="7818120" cy="5413248"/>
          </a:xfrm>
          <a:prstGeom prst="roundRect">
            <a:avLst/>
          </a:prstGeom>
          <a:solidFill>
            <a:srgbClr val="F7F9FB"/>
          </a:solidFill>
          <a:ln w="16510">
            <a:solidFill>
              <a:srgbClr val="91A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024128"/>
            <a:ext cx="7452360" cy="31089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l"/>
            <a:r>
              <a:rPr sz="1500" b="1" dirty="0">
                <a:solidFill>
                  <a:srgbClr val="183B56"/>
                </a:solidFill>
                <a:latin typeface="Aptos"/>
              </a:rPr>
              <a:t>A. Offline CHAI 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7452360" cy="21945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l"/>
            <a:r>
              <a:rPr sz="850" b="0">
                <a:solidFill>
                  <a:srgbClr val="5D6D7E"/>
                </a:solidFill>
                <a:latin typeface="Aptos"/>
              </a:rPr>
              <a:t>Generate, validate, tune, and audit approximation configurations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2752" y="932688"/>
            <a:ext cx="3566160" cy="5413248"/>
          </a:xfrm>
          <a:prstGeom prst="roundRect">
            <a:avLst/>
          </a:prstGeom>
          <a:solidFill>
            <a:srgbClr val="F7F9FB"/>
          </a:solidFill>
          <a:ln w="16510">
            <a:solidFill>
              <a:srgbClr val="91A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85632" y="1024128"/>
            <a:ext cx="3200400" cy="31089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l"/>
            <a:r>
              <a:rPr sz="1500" b="1">
                <a:solidFill>
                  <a:srgbClr val="183B56"/>
                </a:solidFill>
                <a:latin typeface="Aptos"/>
              </a:rPr>
              <a:t>B. Runtime dispatcher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1316736"/>
            <a:ext cx="3200400" cy="21945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l"/>
            <a:r>
              <a:rPr sz="850" b="0">
                <a:solidFill>
                  <a:srgbClr val="5D6D7E"/>
                </a:solidFill>
                <a:latin typeface="Aptos"/>
              </a:rPr>
              <a:t>Select an execution level from measured stored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1261872" cy="21945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ctr"/>
            <a:r>
              <a:rPr sz="750" b="1">
                <a:solidFill>
                  <a:srgbClr val="5D6D7E"/>
                </a:solidFill>
                <a:latin typeface="Aptos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572768"/>
            <a:ext cx="1325880" cy="21945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ctr"/>
            <a:r>
              <a:rPr sz="750" b="1">
                <a:solidFill>
                  <a:srgbClr val="5D6D7E"/>
                </a:solidFill>
                <a:latin typeface="Aptos"/>
              </a:rPr>
              <a:t>OPERATOR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572768"/>
            <a:ext cx="1325880" cy="21945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ctr"/>
            <a:r>
              <a:rPr sz="750" b="1">
                <a:solidFill>
                  <a:srgbClr val="5D6D7E"/>
                </a:solidFill>
                <a:latin typeface="Aptos"/>
              </a:rPr>
              <a:t>CONTROL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572768"/>
            <a:ext cx="1325880" cy="21945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ctr"/>
            <a:r>
              <a:rPr sz="750" b="1">
                <a:solidFill>
                  <a:srgbClr val="5D6D7E"/>
                </a:solidFill>
                <a:latin typeface="Aptos"/>
              </a:rPr>
              <a:t>PROGRAM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572768"/>
            <a:ext cx="1207008" cy="21945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ctr"/>
            <a:r>
              <a:rPr sz="750" b="1">
                <a:solidFill>
                  <a:srgbClr val="5D6D7E"/>
                </a:solidFill>
                <a:latin typeface="Aptos"/>
              </a:rPr>
              <a:t>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828800"/>
            <a:ext cx="1261872" cy="1060704"/>
          </a:xfrm>
          <a:prstGeom prst="roundRect">
            <a:avLst/>
          </a:prstGeom>
          <a:solidFill>
            <a:srgbClr val="FCE8E6"/>
          </a:solidFill>
          <a:ln w="19050">
            <a:solidFill>
              <a:srgbClr val="B94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1000" b="1">
                <a:solidFill>
                  <a:srgbClr val="243746"/>
                </a:solidFill>
                <a:latin typeface="Aptos"/>
              </a:rPr>
              <a:t>Source code
Hardware profile
Technique cards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1828800"/>
            <a:ext cx="1325880" cy="1060704"/>
          </a:xfrm>
          <a:prstGeom prst="roundRect">
            <a:avLst/>
          </a:prstGeom>
          <a:solidFill>
            <a:srgbClr val="EAF2F8"/>
          </a:solidFill>
          <a:ln w="19050">
            <a:solidFill>
              <a:srgbClr val="397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Card generation
Schema validation
Registry + prompts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1828800"/>
            <a:ext cx="1325880" cy="1060704"/>
          </a:xfrm>
          <a:prstGeom prst="roundRect">
            <a:avLst/>
          </a:prstGeom>
          <a:solidFill>
            <a:srgbClr val="EAF2F8"/>
          </a:solidFill>
          <a:ln w="19050">
            <a:solidFill>
              <a:srgbClr val="397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App/HW filtering
Cost ranking
Feasible catalog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8072" y="1828800"/>
            <a:ext cx="1325880" cy="1060704"/>
          </a:xfrm>
          <a:prstGeom prst="roundRect">
            <a:avLst/>
          </a:prstGeom>
          <a:solidFill>
            <a:srgbClr val="EAF2F8"/>
          </a:solidFill>
          <a:ln w="19050">
            <a:solidFill>
              <a:srgbClr val="397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50" b="0">
                <a:solidFill>
                  <a:srgbClr val="243746"/>
                </a:solidFill>
                <a:latin typeface="Aptos"/>
              </a:rPr>
              <a:t>Function extraction
Call graph
Per-function narrowing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1828800"/>
            <a:ext cx="1207008" cy="1060704"/>
          </a:xfrm>
          <a:prstGeom prst="roundRect">
            <a:avLst/>
          </a:prstGeom>
          <a:solidFill>
            <a:srgbClr val="DDF4F7"/>
          </a:solidFill>
          <a:ln w="19050">
            <a:solidFill>
              <a:srgbClr val="168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1000" b="1">
                <a:solidFill>
                  <a:srgbClr val="243746"/>
                </a:solidFill>
                <a:latin typeface="Aptos"/>
              </a:rPr>
              <a:t>Plan generation
Code generation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56231" y="2359152"/>
            <a:ext cx="164593" cy="0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10712" y="2359152"/>
            <a:ext cx="164592" cy="0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65192" y="2359152"/>
            <a:ext cx="146304" cy="0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01384" y="2359152"/>
            <a:ext cx="137160" cy="0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78624" y="2898648"/>
            <a:ext cx="0" cy="283464"/>
          </a:xfrm>
          <a:prstGeom prst="line">
            <a:avLst/>
          </a:prstGeom>
          <a:ln w="21590">
            <a:solidFill>
              <a:srgbClr val="243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463040" y="3182112"/>
            <a:ext cx="5815584" cy="0"/>
          </a:xfrm>
          <a:prstGeom prst="line">
            <a:avLst/>
          </a:prstGeom>
          <a:ln w="21590">
            <a:solidFill>
              <a:srgbClr val="243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63040" y="3182112"/>
            <a:ext cx="0" cy="274320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12166" y="3190239"/>
            <a:ext cx="1874519" cy="21945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ctr"/>
            <a:r>
              <a:rPr sz="750" b="1">
                <a:solidFill>
                  <a:srgbClr val="5D6D7E"/>
                </a:solidFill>
                <a:latin typeface="Aptos"/>
              </a:rPr>
              <a:t>VALIDATION AND EVALUATION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493008"/>
            <a:ext cx="1792224" cy="1170432"/>
          </a:xfrm>
          <a:prstGeom prst="roundRect">
            <a:avLst/>
          </a:prstGeom>
          <a:solidFill>
            <a:srgbClr val="FFF2D8"/>
          </a:solidFill>
          <a:ln w="19050">
            <a:solidFill>
              <a:srgbClr val="C97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890" b="1">
                <a:solidFill>
                  <a:srgbClr val="243746"/>
                </a:solidFill>
                <a:latin typeface="Aptos"/>
              </a:rPr>
              <a:t>Plan contract
Operator conformance
Knob safety
Claim pruning/clamping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0048" y="3493008"/>
            <a:ext cx="1691640" cy="1170432"/>
          </a:xfrm>
          <a:prstGeom prst="roundRect">
            <a:avLst/>
          </a:prstGeom>
          <a:solidFill>
            <a:srgbClr val="FFF2D8"/>
          </a:solidFill>
          <a:ln w="19050">
            <a:solidFill>
              <a:srgbClr val="C97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40" b="0">
                <a:solidFill>
                  <a:srgbClr val="243746"/>
                </a:solidFill>
                <a:latin typeface="Aptos"/>
              </a:rPr>
              <a:t>Compile
Behavior + identity
Error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3493008"/>
            <a:ext cx="1536192" cy="1170432"/>
          </a:xfrm>
          <a:prstGeom prst="roundRect">
            <a:avLst/>
          </a:prstGeom>
          <a:solidFill>
            <a:srgbClr val="EFE9F8"/>
          </a:solidFill>
          <a:ln w="19050">
            <a:solidFill>
              <a:srgbClr val="765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50" b="1">
                <a:solidFill>
                  <a:srgbClr val="243746"/>
                </a:solidFill>
                <a:latin typeface="Aptos"/>
              </a:rPr>
              <a:t>Fused evaluation
Bayesian knob tuning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3493008"/>
            <a:ext cx="1389888" cy="1170432"/>
          </a:xfrm>
          <a:prstGeom prst="roundRect">
            <a:avLst/>
          </a:prstGeom>
          <a:solidFill>
            <a:srgbClr val="E5F4E9"/>
          </a:solidFill>
          <a:ln w="19050">
            <a:solidFill>
              <a:srgbClr val="2F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40" b="1">
                <a:solidFill>
                  <a:srgbClr val="243746"/>
                </a:solidFill>
                <a:latin typeface="Aptos"/>
              </a:rPr>
              <a:t>Validated configs
Energy + error
Knob settings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86584" y="4078224"/>
            <a:ext cx="256032" cy="0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389120" y="4078224"/>
            <a:ext cx="246888" cy="0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227064" y="4078224"/>
            <a:ext cx="256032" cy="0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48056" y="5088636"/>
            <a:ext cx="7562088" cy="658368"/>
          </a:xfrm>
          <a:prstGeom prst="roundRect">
            <a:avLst/>
          </a:prstGeom>
          <a:solidFill>
            <a:srgbClr val="EAF2F8"/>
          </a:solidFill>
          <a:ln w="19050">
            <a:solidFill>
              <a:srgbClr val="39729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1019" b="0">
                <a:solidFill>
                  <a:srgbClr val="243746"/>
                </a:solidFill>
                <a:latin typeface="Aptos"/>
              </a:rPr>
              <a:t>Audit artifacts: rejection logs  •  constraint proofs  •  raw responses  •  accepted code  •  decision traces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5888" y="5845556"/>
            <a:ext cx="7223760" cy="256032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l"/>
            <a:r>
              <a:rPr sz="840" b="0">
                <a:solidFill>
                  <a:srgbClr val="5D6D7E"/>
                </a:solidFill>
                <a:latin typeface="Aptos"/>
              </a:rPr>
              <a:t>Static checks establish declared-contract compliance; compilation and measurement establish executable behavior.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7072" y="1572768"/>
            <a:ext cx="1353312" cy="21945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ctr"/>
            <a:r>
              <a:rPr sz="750" b="1">
                <a:solidFill>
                  <a:srgbClr val="5D6D7E"/>
                </a:solidFill>
                <a:latin typeface="Aptos"/>
              </a:rPr>
              <a:t>CHARACTERIZATION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3264" y="1572768"/>
            <a:ext cx="1444752" cy="219456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ctr"/>
            <a:r>
              <a:rPr sz="750" b="1">
                <a:solidFill>
                  <a:srgbClr val="5D6D7E"/>
                </a:solidFill>
                <a:latin typeface="Aptos"/>
              </a:rPr>
              <a:t>DEVICE STATE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0496" y="1828800"/>
            <a:ext cx="1426464" cy="932688"/>
          </a:xfrm>
          <a:prstGeom prst="roundRect">
            <a:avLst/>
          </a:prstGeom>
          <a:solidFill>
            <a:srgbClr val="E5F4E9"/>
          </a:solidFill>
          <a:ln w="19050">
            <a:solidFill>
              <a:srgbClr val="2F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40" b="1">
                <a:solidFill>
                  <a:srgbClr val="243746"/>
                </a:solidFill>
                <a:latin typeface="Aptos"/>
              </a:rPr>
              <a:t>Level table
L0 / L1 / L2
Energy + 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31552" y="1828800"/>
            <a:ext cx="1426464" cy="932688"/>
          </a:xfrm>
          <a:prstGeom prst="roundRect">
            <a:avLst/>
          </a:prstGeom>
          <a:solidFill>
            <a:srgbClr val="FCE8E6"/>
          </a:solidFill>
          <a:ln w="19050">
            <a:solidFill>
              <a:srgbClr val="B94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40" b="1">
                <a:solidFill>
                  <a:srgbClr val="243746"/>
                </a:solidFill>
                <a:latin typeface="Aptos"/>
              </a:rPr>
              <a:t>Capacitor voltage
C and Vrelease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33688" y="3136392"/>
            <a:ext cx="2240280" cy="694944"/>
          </a:xfrm>
          <a:prstGeom prst="roundRect">
            <a:avLst/>
          </a:prstGeom>
          <a:solidFill>
            <a:srgbClr val="EAF2F8"/>
          </a:solidFill>
          <a:ln w="19050">
            <a:solidFill>
              <a:srgbClr val="397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1000" b="1">
                <a:solidFill>
                  <a:srgbClr val="243746"/>
                </a:solidFill>
                <a:latin typeface="Aptos"/>
              </a:rPr>
              <a:t>Available-energy estimate
+ 10% safety margin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253728" y="2779776"/>
            <a:ext cx="237744" cy="329184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0616184" y="2779776"/>
            <a:ext cx="228600" cy="329184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787384" y="4187952"/>
            <a:ext cx="2542032" cy="749808"/>
          </a:xfrm>
          <a:prstGeom prst="roundRect">
            <a:avLst/>
          </a:prstGeom>
          <a:solidFill>
            <a:srgbClr val="DDF4F7"/>
          </a:solidFill>
          <a:ln w="19050">
            <a:solidFill>
              <a:srgbClr val="168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1050" b="1">
                <a:solidFill>
                  <a:srgbClr val="243746"/>
                </a:solidFill>
                <a:latin typeface="Aptos"/>
              </a:rPr>
              <a:t>Select least-approximate
affordable level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058400" y="3849624"/>
            <a:ext cx="0" cy="310896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595360" y="5330952"/>
            <a:ext cx="658368" cy="438912"/>
          </a:xfrm>
          <a:prstGeom prst="roundRect">
            <a:avLst/>
          </a:prstGeom>
          <a:solidFill>
            <a:srgbClr val="E5F4E9"/>
          </a:solidFill>
          <a:ln w="19050">
            <a:solidFill>
              <a:srgbClr val="2F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19" b="1">
                <a:solidFill>
                  <a:srgbClr val="243746"/>
                </a:solidFill>
                <a:latin typeface="Aptos"/>
              </a:rPr>
              <a:t>L0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54312" y="5330952"/>
            <a:ext cx="658368" cy="438912"/>
          </a:xfrm>
          <a:prstGeom prst="roundRect">
            <a:avLst/>
          </a:prstGeom>
          <a:solidFill>
            <a:srgbClr val="E5F4E9"/>
          </a:solidFill>
          <a:ln w="19050">
            <a:solidFill>
              <a:srgbClr val="2F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19" b="1">
                <a:solidFill>
                  <a:srgbClr val="243746"/>
                </a:solidFill>
                <a:latin typeface="Aptos"/>
              </a:rPr>
              <a:t>L1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13264" y="5330952"/>
            <a:ext cx="658368" cy="438912"/>
          </a:xfrm>
          <a:prstGeom prst="roundRect">
            <a:avLst/>
          </a:prstGeom>
          <a:solidFill>
            <a:srgbClr val="FFF2D8"/>
          </a:solidFill>
          <a:ln w="19050">
            <a:solidFill>
              <a:srgbClr val="C97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19" b="1">
                <a:solidFill>
                  <a:srgbClr val="243746"/>
                </a:solidFill>
                <a:latin typeface="Aptos"/>
              </a:rPr>
              <a:t>L2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872216" y="5330952"/>
            <a:ext cx="658368" cy="438912"/>
          </a:xfrm>
          <a:prstGeom prst="roundRect">
            <a:avLst/>
          </a:prstGeom>
          <a:solidFill>
            <a:srgbClr val="FCE8E6"/>
          </a:solidFill>
          <a:ln w="19050">
            <a:solidFill>
              <a:srgbClr val="B94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6576" rIns="64008" bIns="36576" rtlCol="0" anchor="ctr"/>
          <a:lstStyle/>
          <a:p>
            <a:pPr algn="ctr"/>
            <a:r>
              <a:rPr sz="919" b="1">
                <a:solidFill>
                  <a:srgbClr val="243746"/>
                </a:solidFill>
                <a:latin typeface="Aptos"/>
              </a:rPr>
              <a:t>DEFER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058400" y="4956048"/>
            <a:ext cx="0" cy="292608"/>
          </a:xfrm>
          <a:prstGeom prst="line">
            <a:avLst/>
          </a:prstGeom>
          <a:ln w="21590">
            <a:solidFill>
              <a:srgbClr val="2437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613648" y="5833872"/>
            <a:ext cx="2889504" cy="292608"/>
          </a:xfrm>
          <a:prstGeom prst="rect">
            <a:avLst/>
          </a:prstGeom>
          <a:noFill/>
        </p:spPr>
        <p:txBody>
          <a:bodyPr wrap="none" lIns="64008" tIns="36576" rIns="64008" bIns="36576" anchor="ctr">
            <a:spAutoFit/>
          </a:bodyPr>
          <a:lstStyle/>
          <a:p>
            <a:pPr algn="ctr"/>
            <a:r>
              <a:rPr sz="850" b="0">
                <a:solidFill>
                  <a:srgbClr val="5D6D7E"/>
                </a:solidFill>
                <a:latin typeface="Aptos"/>
              </a:rPr>
              <a:t>Evaluated with canonical levels in Fused/MSP430 simulation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7927848" y="2322576"/>
            <a:ext cx="585216" cy="1517904"/>
          </a:xfrm>
          <a:prstGeom prst="line">
            <a:avLst/>
          </a:prstGeom>
          <a:ln w="19050">
            <a:solidFill>
              <a:srgbClr val="76539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680960" y="2926080"/>
            <a:ext cx="1078992" cy="384048"/>
          </a:xfrm>
          <a:prstGeom prst="rect">
            <a:avLst/>
          </a:prstGeom>
          <a:solidFill>
            <a:srgbClr val="FFFFFF"/>
          </a:solidFill>
        </p:spPr>
        <p:txBody>
          <a:bodyPr wrap="none" lIns="64008" tIns="36576" rIns="64008" bIns="36576" anchor="ctr">
            <a:spAutoFit/>
          </a:bodyPr>
          <a:lstStyle/>
          <a:p>
            <a:pPr algn="ctr"/>
            <a:r>
              <a:rPr sz="780" b="1">
                <a:solidFill>
                  <a:srgbClr val="76539A"/>
                </a:solidFill>
                <a:latin typeface="Aptos"/>
              </a:rPr>
              <a:t>Integration
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205</Words>
  <Application>Microsoft Macintosh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Solanki, Solanki</cp:lastModifiedBy>
  <cp:revision>2</cp:revision>
  <dcterms:created xsi:type="dcterms:W3CDTF">2013-01-27T09:14:16Z</dcterms:created>
  <dcterms:modified xsi:type="dcterms:W3CDTF">2026-09-27T01:50:12Z</dcterms:modified>
  <cp:category/>
</cp:coreProperties>
</file>